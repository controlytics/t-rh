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0dd0281-049c-4cd6-ef92-78851db16128}">
          <p14:sldIdLst>
            <p14:sldId id="256"/>
            <p14:sldId id="257"/>
          </p14:sldIdLst>
        </p14:section>
        <p14:section name="Today" id="{b0887ee3-73a5-edf3-deac-d86a9c20f9e4}">
          <p14:sldIdLst>
            <p14:sldId id="258"/>
          </p14:sldIdLst>
        </p14:section>
        <p14:section name="Plan views" id="{9997edc8-f1ed-4d8e-e12b-91b9eb7ae95b}">
          <p14:sldIdLst>
            <p14:sldId id="259"/>
            <p14:sldId id="260"/>
            <p14:sldId id="261"/>
            <p14:sldId id="262"/>
          </p14:sldIdLst>
        </p14:section>
        <p14:section name="Three-dimensional" id="{167bb3fa-b58d-9e9f-8225-561cf7b08a61}">
          <p14:sldIdLst>
            <p14:sldId id="263"/>
            <p14:sldId id="264"/>
            <p14:sldId id="265"/>
          </p14:sldIdLst>
        </p14:section>
        <p14:section name="No plan geometry" id="{c705e319-af5d-ad85-d769-e20e494aa572}">
          <p14:sldIdLst>
            <p14:sldId id="266"/>
          </p14:sldIdLst>
        </p14:section>
        <p14:section name="Comparison" id="{19153f03-e862-59e2-75bd-4d25265cf3d6}">
          <p14:sldIdLst>
            <p14:sldId id="267"/>
            <p14:sldId id="268"/>
          </p14:sldIdLst>
        </p14:section>
        <p14:section name="Decision" id="{c385f82d-2268-7296-3608-4d02bd8d03a3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six floors we traced from the drawings are already live on the dashboard in a 2D architectural style. This deck shows the same floors in four alternative models, built as standalone pages, so the client can compare and pick.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but the visual style is held constant so the comparison is fair. The sample readings are a snapshot; a few instruments are set to demonstration states so every colour appears.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point: the live dashboard today. QC 3 (left) and QC (right).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— flat plan. Open model-normal.html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Thermal heatmap. Open model-heatmap.html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Blueprint. Open model-blueprint.html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control room. Open model-dark.html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Isometric 2.5D. Open model-isometric.html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3D interactive. Open model-3d.html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Digital twin 3D. Open model-twin.html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Tile wall. Open model-tiles.html in the presentation folder to show it live; switch floors with the tabs; hover a room for its readings and limits.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by side on one floor: identical rooms, identical readings, eight treatments.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frank comparison. Dark and tile wall for a control-room wall; normal and heatmap for everyday use; the twin and 3D for demos and visitors; blueprint for the engineering office.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decision. All four pages are in Layouts/presentation — open index.html to show any of them live during the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56692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700" dirty="0">
                <a:solidFill>
                  <a:srgbClr val="B9C8DD"/>
                </a:solidFill>
              </a:defRPr>
            </a:lvl1pPr>
          </a:lstStyle>
          <a:p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Floor layout models · T&amp;RH Monitoring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F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</a:rPr>
              <a:t>Floor layout models · T&amp;RH Monitoring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5852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Floor layouts, eight ways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79476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C8DD"/>
                </a:solidFill>
              </a:rPr>
              <a:t>The same CWH floors drawn in eight presentation models — for you to choose the one that goes on the monitoring dashboard.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</a:rPr>
              <a:t>October 2026</a:t>
            </a:r>
            <a:endParaRPr lang="en-US" sz="1700" dirty="0"/>
          </a:p>
        </p:txBody>
      </p:sp>
      <p:pic>
        <p:nvPicPr>
          <p:cNvPr id="4" name="Digital twin QC 3" descr="C:/Users/hello/AppData/Local/Temp/lm-shots/crops/twin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923947"/>
            <a:ext cx="5303520" cy="30101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is being compared</a:t>
            </a:r>
            <a:endParaRPr lang="en-US" sz="3000" dirty="0"/>
          </a:p>
        </p:txBody>
      </p:sp>
      <p:sp>
        <p:nvSpPr>
          <p:cNvPr id="3" name="card Same floors"/>
          <p:cNvSpPr/>
          <p:nvPr/>
        </p:nvSpPr>
        <p:spPr>
          <a:xfrm>
            <a:off x="54864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dot Same floors"/>
          <p:cNvSpPr/>
          <p:nvPr/>
        </p:nvSpPr>
        <p:spPr>
          <a:xfrm>
            <a:off x="822960" y="17099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heading Same floors"/>
          <p:cNvSpPr txBox="1"/>
          <p:nvPr/>
        </p:nvSpPr>
        <p:spPr>
          <a:xfrm>
            <a:off x="141732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floors</a:t>
            </a:r>
            <a:endParaRPr lang="en-US" sz="2000" dirty="0"/>
          </a:p>
        </p:txBody>
      </p:sp>
      <p:sp>
        <p:nvSpPr>
          <p:cNvPr id="6" name="text Same floors"/>
          <p:cNvSpPr txBox="1"/>
          <p:nvPr/>
        </p:nvSpPr>
        <p:spPr>
          <a:xfrm>
            <a:off x="1417320" y="22402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QC, QC Microbiology, QC 3, Module-E and both Module-F floors — 143 rooms traced from the architectural drawings.</a:t>
            </a:r>
            <a:endParaRPr lang="en-US" sz="1400" dirty="0"/>
          </a:p>
        </p:txBody>
      </p:sp>
      <p:sp>
        <p:nvSpPr>
          <p:cNvPr id="7" name="card Same instruments"/>
          <p:cNvSpPr/>
          <p:nvPr/>
        </p:nvSpPr>
        <p:spPr>
          <a:xfrm>
            <a:off x="6172200" y="14173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ot Same instruments"/>
          <p:cNvSpPr/>
          <p:nvPr/>
        </p:nvSpPr>
        <p:spPr>
          <a:xfrm>
            <a:off x="6446520" y="170992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heading Same instruments"/>
          <p:cNvSpPr txBox="1"/>
          <p:nvPr/>
        </p:nvSpPr>
        <p:spPr>
          <a:xfrm>
            <a:off x="704088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instruments</a:t>
            </a:r>
            <a:endParaRPr lang="en-US" sz="2000" dirty="0"/>
          </a:p>
        </p:txBody>
      </p:sp>
      <p:sp>
        <p:nvSpPr>
          <p:cNvPr id="10" name="text Same instruments"/>
          <p:cNvSpPr txBox="1"/>
          <p:nvPr/>
        </p:nvSpPr>
        <p:spPr>
          <a:xfrm>
            <a:off x="7040880" y="224028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56 instruments, each in the room its Location says; IDs, limits and readings identical in every model.</a:t>
            </a:r>
            <a:endParaRPr lang="en-US" sz="1400" dirty="0"/>
          </a:p>
        </p:txBody>
      </p:sp>
      <p:sp>
        <p:nvSpPr>
          <p:cNvPr id="11" name="card Same status language"/>
          <p:cNvSpPr/>
          <p:nvPr/>
        </p:nvSpPr>
        <p:spPr>
          <a:xfrm>
            <a:off x="54864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ot Same status language"/>
          <p:cNvSpPr/>
          <p:nvPr/>
        </p:nvSpPr>
        <p:spPr>
          <a:xfrm>
            <a:off x="822960" y="4041648"/>
            <a:ext cx="384048" cy="38404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heading Same status language"/>
          <p:cNvSpPr txBox="1"/>
          <p:nvPr/>
        </p:nvSpPr>
        <p:spPr>
          <a:xfrm>
            <a:off x="141732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Same status language</a:t>
            </a:r>
            <a:endParaRPr lang="en-US" sz="2000" dirty="0"/>
          </a:p>
        </p:txBody>
      </p:sp>
      <p:sp>
        <p:nvSpPr>
          <p:cNvPr id="14" name="text Same status language"/>
          <p:cNvSpPr txBox="1"/>
          <p:nvPr/>
        </p:nvSpPr>
        <p:spPr>
          <a:xfrm>
            <a:off x="1417320" y="45720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Green in limit · red out of limit · violet sensor fault · amber not reporting · grey no reading — in every model.</a:t>
            </a:r>
            <a:endParaRPr lang="en-US" sz="1400" dirty="0"/>
          </a:p>
        </p:txBody>
      </p:sp>
      <p:sp>
        <p:nvSpPr>
          <p:cNvPr id="15" name="card Only the look changes"/>
          <p:cNvSpPr/>
          <p:nvPr/>
        </p:nvSpPr>
        <p:spPr>
          <a:xfrm>
            <a:off x="6172200" y="3749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EEF1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ot Only the look changes"/>
          <p:cNvSpPr/>
          <p:nvPr/>
        </p:nvSpPr>
        <p:spPr>
          <a:xfrm>
            <a:off x="6446520" y="4041648"/>
            <a:ext cx="384048" cy="38404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heading Only the look changes"/>
          <p:cNvSpPr txBox="1"/>
          <p:nvPr/>
        </p:nvSpPr>
        <p:spPr>
          <a:xfrm>
            <a:off x="704088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Only the look changes</a:t>
            </a:r>
            <a:endParaRPr lang="en-US" sz="2000" dirty="0"/>
          </a:p>
        </p:txBody>
      </p:sp>
      <p:sp>
        <p:nvSpPr>
          <p:cNvPr id="18" name="text Only the look changes"/>
          <p:cNvSpPr txBox="1"/>
          <p:nvPr/>
        </p:nvSpPr>
        <p:spPr>
          <a:xfrm>
            <a:off x="7040880" y="457200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Eight models: four plan views, three three-dimensional, one tile board. Pick for legibility, alarm visibility and the screen it will live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Today: the 2D architectural style on the dashboard</a:t>
            </a:r>
            <a:endParaRPr lang="en-US" sz="3000" dirty="0"/>
          </a:p>
        </p:txBody>
      </p:sp>
      <p:sp>
        <p:nvSpPr>
          <p:cNvPr id="3" name="QC 3 today frame"/>
          <p:cNvSpPr/>
          <p:nvPr/>
        </p:nvSpPr>
        <p:spPr>
          <a:xfrm>
            <a:off x="548640" y="1339154"/>
            <a:ext cx="6949440" cy="481977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QC 3 today" descr="C:/Users/hello/compliance-core/Layouts/CWH/concepts/applied-cwh-qc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9154"/>
            <a:ext cx="6949440" cy="4819773"/>
          </a:xfrm>
          <a:prstGeom prst="rect">
            <a:avLst/>
          </a:prstGeom>
        </p:spPr>
      </p:pic>
      <p:sp>
        <p:nvSpPr>
          <p:cNvPr id="5" name="QC today frame"/>
          <p:cNvSpPr/>
          <p:nvPr/>
        </p:nvSpPr>
        <p:spPr>
          <a:xfrm>
            <a:off x="7847158" y="1325880"/>
            <a:ext cx="3736683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6" name="QC today" descr="C:/Users/hello/compliance-core/Layouts/CWH/concepts/applied-cwh-q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7158" y="1325880"/>
            <a:ext cx="3736683" cy="3291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72400" y="47548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Double walls, columns and windows exactly as drawn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card per instrument, status-washed rooms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Legend and plan north under the plan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This stays as it is — the models that follow are alternatives, not replacements until chosen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Normal — flat plan</a:t>
            </a:r>
            <a:endParaRPr lang="en-US" sz="3000" dirty="0"/>
          </a:p>
        </p:txBody>
      </p:sp>
      <p:sp>
        <p:nvSpPr>
          <p:cNvPr id="3" name="normal qc3 frame"/>
          <p:cNvSpPr/>
          <p:nvPr/>
        </p:nvSpPr>
        <p:spPr>
          <a:xfrm>
            <a:off x="1627766" y="1280160"/>
            <a:ext cx="5065509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normal qc3" descr="C:/Users/hello/AppData/Local/Temp/lm-shots/crops/normal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766" y="1280160"/>
            <a:ext cx="5065509" cy="4937760"/>
          </a:xfrm>
          <a:prstGeom prst="rect">
            <a:avLst/>
          </a:prstGeom>
        </p:spPr>
      </p:pic>
      <p:sp>
        <p:nvSpPr>
          <p:cNvPr id="5" name="caption QC 3"/>
          <p:cNvSpPr txBox="1"/>
          <p:nvPr/>
        </p:nvSpPr>
        <p:spPr>
          <a:xfrm>
            <a:off x="1627766" y="6263640"/>
            <a:ext cx="5065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QC 3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clean plan: thin walls, status-washed rooms, one card per instrument with icons, readings and a bar showing where each value sits in its limits. Alarm rooms glow.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Fast to read; prints and projects well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Easiest on the eye for an all-day office screen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Plain SVG — runs on any PC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The quietest of the eight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Status is a wash, so an alarm is softer than in the dark model</a:t>
            </a:r>
            <a:endParaRPr lang="en-US" sz="1200" dirty="0"/>
          </a:p>
        </p:txBody>
      </p:sp>
      <p:sp>
        <p:nvSpPr>
          <p:cNvPr id="11" name="normal module-f-ground frame"/>
          <p:cNvSpPr/>
          <p:nvPr/>
        </p:nvSpPr>
        <p:spPr>
          <a:xfrm>
            <a:off x="8925517" y="5486400"/>
            <a:ext cx="190000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normal module-f-ground" descr="C:/Users/hello/AppData/Local/Temp/lm-shots/crops/normal-module-f-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5517" y="5486400"/>
            <a:ext cx="1900006" cy="868680"/>
          </a:xfrm>
          <a:prstGeom prst="rect">
            <a:avLst/>
          </a:prstGeom>
        </p:spPr>
      </p:pic>
      <p:sp>
        <p:nvSpPr>
          <p:cNvPr id="13" name="caption Module-F — Ground Floor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Module-F — Ground Floor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Thermal heatmap</a:t>
            </a:r>
            <a:endParaRPr lang="en-US" sz="3000" dirty="0"/>
          </a:p>
        </p:txBody>
      </p:sp>
      <p:sp>
        <p:nvSpPr>
          <p:cNvPr id="3" name="heatmap qc3 frame"/>
          <p:cNvSpPr/>
          <p:nvPr/>
        </p:nvSpPr>
        <p:spPr>
          <a:xfrm>
            <a:off x="548640" y="1717358"/>
            <a:ext cx="7223760" cy="406336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heatmap qc3" descr="C:/Users/hello/AppData/Local/Temp/lm-shots/crops/heatmap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7358"/>
            <a:ext cx="7223760" cy="4063365"/>
          </a:xfrm>
          <a:prstGeom prst="rect">
            <a:avLst/>
          </a:prstGeom>
        </p:spPr>
      </p:pic>
      <p:sp>
        <p:nvSpPr>
          <p:cNvPr id="5" name="caption QC 3"/>
          <p:cNvSpPr txBox="1"/>
          <p:nvPr/>
        </p:nvSpPr>
        <p:spPr>
          <a:xfrm>
            <a:off x="548640" y="5826443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QC 3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temperature or humidity field blended across the whole floor from every sensor, with the measured value pinned at each instrument. Switch between the two with one click.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Shows gradients and drift between rooms, which no other model does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Reads instantly: hot is red, cold is blue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Great for HVAC balancing and investigations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Colour between sensors is interpolated, not measured (hatched rooms say so)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Less precise about limits than cards</a:t>
            </a:r>
            <a:endParaRPr lang="en-US" sz="1200" dirty="0"/>
          </a:p>
        </p:txBody>
      </p:sp>
      <p:sp>
        <p:nvSpPr>
          <p:cNvPr id="11" name="heatmap microbiology frame"/>
          <p:cNvSpPr/>
          <p:nvPr/>
        </p:nvSpPr>
        <p:spPr>
          <a:xfrm>
            <a:off x="9103360" y="5486400"/>
            <a:ext cx="1544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heatmap microbiology" descr="C:/Users/hello/AppData/Local/Temp/lm-shots/crops/heatmap-microbiolo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360" y="5486400"/>
            <a:ext cx="1544320" cy="868680"/>
          </a:xfrm>
          <a:prstGeom prst="rect">
            <a:avLst/>
          </a:prstGeom>
        </p:spPr>
      </p:pic>
      <p:sp>
        <p:nvSpPr>
          <p:cNvPr id="13" name="caption QC Microbiology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QC Microbiology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Blueprint</a:t>
            </a:r>
            <a:endParaRPr lang="en-US" sz="3000" dirty="0"/>
          </a:p>
        </p:txBody>
      </p:sp>
      <p:sp>
        <p:nvSpPr>
          <p:cNvPr id="3" name="blueprint microbiology frame"/>
          <p:cNvSpPr/>
          <p:nvPr/>
        </p:nvSpPr>
        <p:spPr>
          <a:xfrm>
            <a:off x="548640" y="1717358"/>
            <a:ext cx="7223760" cy="406336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blueprint microbiology" descr="C:/Users/hello/AppData/Local/Temp/lm-shots/crops/blueprint-microbi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7358"/>
            <a:ext cx="7223760" cy="4063365"/>
          </a:xfrm>
          <a:prstGeom prst="rect">
            <a:avLst/>
          </a:prstGeom>
        </p:spPr>
      </p:pic>
      <p:sp>
        <p:nvSpPr>
          <p:cNvPr id="5" name="caption QC Microbiology"/>
          <p:cNvSpPr txBox="1"/>
          <p:nvPr/>
        </p:nvSpPr>
        <p:spPr>
          <a:xfrm>
            <a:off x="548640" y="5826443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QC Microbiology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drawing-office sheet: white line work on engineering blue, double-line partitions, hatched columns, a title block and boxed instrument tags.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Familiar to engineering and validation teams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Looks like a controlled document — fits a GMP site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Monochrome except the status squares, so an alarm still stands out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Readings are small; made for a desk, not a wall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Dark blue print</a:t>
            </a:r>
            <a:endParaRPr lang="en-US" sz="1200" dirty="0"/>
          </a:p>
        </p:txBody>
      </p:sp>
      <p:sp>
        <p:nvSpPr>
          <p:cNvPr id="11" name="blueprint qc frame"/>
          <p:cNvSpPr/>
          <p:nvPr/>
        </p:nvSpPr>
        <p:spPr>
          <a:xfrm>
            <a:off x="9103360" y="5486400"/>
            <a:ext cx="1544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blueprint qc" descr="C:/Users/hello/AppData/Local/Temp/lm-shots/crops/blueprint-q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360" y="5486400"/>
            <a:ext cx="1544320" cy="868680"/>
          </a:xfrm>
          <a:prstGeom prst="rect">
            <a:avLst/>
          </a:prstGeom>
        </p:spPr>
      </p:pic>
      <p:sp>
        <p:nvSpPr>
          <p:cNvPr id="13" name="caption QC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QC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Dark control room</a:t>
            </a:r>
            <a:endParaRPr lang="en-US" sz="3000" dirty="0"/>
          </a:p>
        </p:txBody>
      </p:sp>
      <p:sp>
        <p:nvSpPr>
          <p:cNvPr id="3" name="dark qc3 frame"/>
          <p:cNvSpPr/>
          <p:nvPr/>
        </p:nvSpPr>
        <p:spPr>
          <a:xfrm>
            <a:off x="548640" y="1717358"/>
            <a:ext cx="7223760" cy="4063365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dark qc3" descr="C:/Users/hello/AppData/Local/Temp/lm-shots/crops/dark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17358"/>
            <a:ext cx="7223760" cy="4063365"/>
          </a:xfrm>
          <a:prstGeom prst="rect">
            <a:avLst/>
          </a:prstGeom>
        </p:spPr>
      </p:pic>
      <p:sp>
        <p:nvSpPr>
          <p:cNvPr id="5" name="caption QC 3"/>
          <p:cNvSpPr txBox="1"/>
          <p:nvPr/>
        </p:nvSpPr>
        <p:spPr>
          <a:xfrm>
            <a:off x="548640" y="5826443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QC 3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A monitoring-wall theme: dark plate, glowing walls, big glowing numerals straight on the room, limit bars, counters across the top. Alarm rooms pulse.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Alarms are unmistakable from across the room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Suits a 24 x 7 wall and low-light control rooms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Counters give the plant state before you read a room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Heavy on a bright office screen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Dark print; needs a light model for reports</a:t>
            </a:r>
            <a:endParaRPr lang="en-US" sz="1200" dirty="0"/>
          </a:p>
        </p:txBody>
      </p:sp>
      <p:sp>
        <p:nvSpPr>
          <p:cNvPr id="11" name="dark module-f-ground frame"/>
          <p:cNvSpPr/>
          <p:nvPr/>
        </p:nvSpPr>
        <p:spPr>
          <a:xfrm>
            <a:off x="9103360" y="5486400"/>
            <a:ext cx="15443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dark module-f-ground" descr="C:/Users/hello/AppData/Local/Temp/lm-shots/crops/dark-module-f-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360" y="5486400"/>
            <a:ext cx="1544320" cy="868680"/>
          </a:xfrm>
          <a:prstGeom prst="rect">
            <a:avLst/>
          </a:prstGeom>
        </p:spPr>
      </p:pic>
      <p:sp>
        <p:nvSpPr>
          <p:cNvPr id="13" name="caption Module-F — Ground Floor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Module-F — Ground Floor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Isometric 2.5D</a:t>
            </a:r>
            <a:endParaRPr lang="en-US" sz="3000" dirty="0"/>
          </a:p>
        </p:txBody>
      </p:sp>
      <p:sp>
        <p:nvSpPr>
          <p:cNvPr id="3" name="isometric qc frame"/>
          <p:cNvSpPr/>
          <p:nvPr/>
        </p:nvSpPr>
        <p:spPr>
          <a:xfrm>
            <a:off x="548640" y="1332149"/>
            <a:ext cx="7223760" cy="48337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isometric qc" descr="C:/Users/hello/AppData/Local/Temp/lm-shots/crops/isometric-q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2149"/>
            <a:ext cx="7223760" cy="4833783"/>
          </a:xfrm>
          <a:prstGeom prst="rect">
            <a:avLst/>
          </a:prstGeom>
        </p:spPr>
      </p:pic>
      <p:sp>
        <p:nvSpPr>
          <p:cNvPr id="5" name="caption QC"/>
          <p:cNvSpPr txBox="1"/>
          <p:nvPr/>
        </p:nvSpPr>
        <p:spPr>
          <a:xfrm>
            <a:off x="548640" y="6211651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QC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fixed bird’s-eye angle drawn in SVG: shaded raised walls, floating cards with limit bars, door swings on the floor, beacons on alarms. 3D feel with no interaction.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Depth without a mouse — fine on a wall screen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 library, no graphics card, prints well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 card legible at one angle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Far rooms sit behind near walls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Long floors become wide; portrait floors become diamonds</a:t>
            </a:r>
            <a:endParaRPr lang="en-US" sz="1200" dirty="0"/>
          </a:p>
        </p:txBody>
      </p:sp>
      <p:sp>
        <p:nvSpPr>
          <p:cNvPr id="11" name="isometric microbiology frame"/>
          <p:cNvSpPr/>
          <p:nvPr/>
        </p:nvSpPr>
        <p:spPr>
          <a:xfrm>
            <a:off x="9242915" y="5486400"/>
            <a:ext cx="1265209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isometric microbiology" descr="C:/Users/hello/AppData/Local/Temp/lm-shots/crops/isometric-microbiolo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2915" y="5486400"/>
            <a:ext cx="1265209" cy="868680"/>
          </a:xfrm>
          <a:prstGeom prst="rect">
            <a:avLst/>
          </a:prstGeom>
        </p:spPr>
      </p:pic>
      <p:sp>
        <p:nvSpPr>
          <p:cNvPr id="13" name="caption QC Microbiology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QC Microbiology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3D interactive</a:t>
            </a:r>
            <a:endParaRPr lang="en-US" sz="3000" dirty="0"/>
          </a:p>
        </p:txBody>
      </p:sp>
      <p:sp>
        <p:nvSpPr>
          <p:cNvPr id="3" name="3d qc3 frame"/>
          <p:cNvSpPr/>
          <p:nvPr/>
        </p:nvSpPr>
        <p:spPr>
          <a:xfrm>
            <a:off x="548640" y="1699054"/>
            <a:ext cx="7223760" cy="40999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3d qc3" descr="C:/Users/hello/AppData/Local/Temp/lm-shots/crops/3d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9054"/>
            <a:ext cx="7223760" cy="4099972"/>
          </a:xfrm>
          <a:prstGeom prst="rect">
            <a:avLst/>
          </a:prstGeom>
        </p:spPr>
      </p:pic>
      <p:sp>
        <p:nvSpPr>
          <p:cNvPr id="5" name="caption QC 3"/>
          <p:cNvSpPr txBox="1"/>
          <p:nvPr/>
        </p:nvSpPr>
        <p:spPr>
          <a:xfrm>
            <a:off x="548640" y="584474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QC 3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true 3D model you orbit, zoom and pan. Walls stand up, floors take the status colour, cards float above rooms, alarm rooms get a beacon and a pulsing ring, hover shows the reading and its limits.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Rooms read as spaces, not boxes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Strong in a demo; a visitor can explore it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Several floors can be stacked later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Needs a graphics-capable PC and a mouse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Cards overlap in dense areas until you zoom</a:t>
            </a:r>
            <a:endParaRPr lang="en-US" sz="1200" dirty="0"/>
          </a:p>
        </p:txBody>
      </p:sp>
      <p:sp>
        <p:nvSpPr>
          <p:cNvPr id="11" name="3d module-f-ground frame"/>
          <p:cNvSpPr/>
          <p:nvPr/>
        </p:nvSpPr>
        <p:spPr>
          <a:xfrm>
            <a:off x="9110254" y="5486400"/>
            <a:ext cx="1530531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3d module-f-ground" descr="C:/Users/hello/AppData/Local/Temp/lm-shots/crops/3d-module-f-grou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254" y="5486400"/>
            <a:ext cx="1530531" cy="868680"/>
          </a:xfrm>
          <a:prstGeom prst="rect">
            <a:avLst/>
          </a:prstGeom>
        </p:spPr>
      </p:pic>
      <p:sp>
        <p:nvSpPr>
          <p:cNvPr id="13" name="caption Module-F — Ground Floor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Module-F — Ground Floor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Digital twin 3D</a:t>
            </a:r>
            <a:endParaRPr lang="en-US" sz="3000" dirty="0"/>
          </a:p>
        </p:txBody>
      </p:sp>
      <p:sp>
        <p:nvSpPr>
          <p:cNvPr id="3" name="twin qc3 frame"/>
          <p:cNvSpPr/>
          <p:nvPr/>
        </p:nvSpPr>
        <p:spPr>
          <a:xfrm>
            <a:off x="548640" y="1699054"/>
            <a:ext cx="7223760" cy="40999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twin qc3" descr="C:/Users/hello/AppData/Local/Temp/lm-shots/crops/twin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9054"/>
            <a:ext cx="7223760" cy="4099972"/>
          </a:xfrm>
          <a:prstGeom prst="rect">
            <a:avLst/>
          </a:prstGeom>
        </p:spPr>
      </p:pic>
      <p:sp>
        <p:nvSpPr>
          <p:cNvPr id="5" name="caption QC 3"/>
          <p:cNvSpPr txBox="1"/>
          <p:nvPr/>
        </p:nvSpPr>
        <p:spPr>
          <a:xfrm>
            <a:off x="548640" y="584474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QC 3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The 3D model dressed as a digital twin: glass partitions on low sills, tiled floors, metallic equipment, status glowing out from each instrument, a slow turntable that stops when you take the mouse.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showpiece — reception, visitor area, management review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Status glows read from a distance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Still the same data and hover detail as the plain 3D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Needs a graphics-capable PC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Glass and glow trade some legibility for looks</a:t>
            </a:r>
            <a:endParaRPr lang="en-US" sz="1200" dirty="0"/>
          </a:p>
        </p:txBody>
      </p:sp>
      <p:sp>
        <p:nvSpPr>
          <p:cNvPr id="11" name="twin module-f-first frame"/>
          <p:cNvSpPr/>
          <p:nvPr/>
        </p:nvSpPr>
        <p:spPr>
          <a:xfrm>
            <a:off x="9110254" y="5486400"/>
            <a:ext cx="1530531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twin module-f-first" descr="C:/Users/hello/AppData/Local/Temp/lm-shots/crops/twin-module-f-fir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254" y="5486400"/>
            <a:ext cx="1530531" cy="868680"/>
          </a:xfrm>
          <a:prstGeom prst="rect">
            <a:avLst/>
          </a:prstGeom>
        </p:spPr>
      </p:pic>
      <p:sp>
        <p:nvSpPr>
          <p:cNvPr id="13" name="caption Module-F — First Floor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Module-F — First Floor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Tile wall</a:t>
            </a:r>
            <a:endParaRPr lang="en-US" sz="3000" dirty="0"/>
          </a:p>
        </p:txBody>
      </p:sp>
      <p:sp>
        <p:nvSpPr>
          <p:cNvPr id="3" name="tiles qc3 frame"/>
          <p:cNvSpPr/>
          <p:nvPr/>
        </p:nvSpPr>
        <p:spPr>
          <a:xfrm>
            <a:off x="548640" y="2410387"/>
            <a:ext cx="7223760" cy="267730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4" name="tiles qc3" descr="C:/Users/hello/AppData/Local/Temp/lm-shots/crops/tiles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410387"/>
            <a:ext cx="7223760" cy="2677306"/>
          </a:xfrm>
          <a:prstGeom prst="rect">
            <a:avLst/>
          </a:prstGeom>
        </p:spPr>
      </p:pic>
      <p:sp>
        <p:nvSpPr>
          <p:cNvPr id="5" name="caption QC 3"/>
          <p:cNvSpPr txBox="1"/>
          <p:nvPr/>
        </p:nvSpPr>
        <p:spPr>
          <a:xfrm>
            <a:off x="548640" y="5133413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QC 3</a:t>
            </a:r>
            <a:endParaRPr lang="en-US" sz="1100" dirty="0"/>
          </a:p>
        </p:txBody>
      </p:sp>
      <p:sp>
        <p:nvSpPr>
          <p:cNvPr id="6" name="what"/>
          <p:cNvSpPr txBox="1"/>
          <p:nvPr/>
        </p:nvSpPr>
        <p:spPr>
          <a:xfrm>
            <a:off x="8092440" y="128016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No floor plan at all: one large tile per instrument with the room, the ID, two big numerals and limit bars, alarms grouped first. Built for a wall screen read from ten metres.</a:t>
            </a:r>
            <a:endParaRPr lang="en-US" sz="1300" dirty="0"/>
          </a:p>
        </p:txBody>
      </p:sp>
      <p:sp>
        <p:nvSpPr>
          <p:cNvPr id="7" name="best heading"/>
          <p:cNvSpPr txBox="1"/>
          <p:nvPr/>
        </p:nvSpPr>
        <p:spPr>
          <a:xfrm>
            <a:off x="8092440" y="2651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Best for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971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Largest numerals of any model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Alarms sort to the top — nothing to hunt for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Works on any screen, including a TV</a:t>
            </a:r>
            <a:endParaRPr lang="en-US" sz="1200" dirty="0"/>
          </a:p>
        </p:txBody>
      </p:sp>
      <p:sp>
        <p:nvSpPr>
          <p:cNvPr id="9" name="tradeoff heading"/>
          <p:cNvSpPr txBox="1"/>
          <p:nvPr/>
        </p:nvSpPr>
        <p:spPr>
          <a:xfrm>
            <a:off x="8092440" y="4251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Trade-offs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572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No sense of where a room is</a:t>
            </a:r>
            <a:endParaRPr lang="en-US" sz="12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Many instruments mean scrolling</a:t>
            </a:r>
            <a:endParaRPr lang="en-US" sz="1200" dirty="0"/>
          </a:p>
        </p:txBody>
      </p:sp>
      <p:sp>
        <p:nvSpPr>
          <p:cNvPr id="11" name="tiles qc frame"/>
          <p:cNvSpPr/>
          <p:nvPr/>
        </p:nvSpPr>
        <p:spPr>
          <a:xfrm>
            <a:off x="8932584" y="5486400"/>
            <a:ext cx="188587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2" name="tiles qc" descr="C:/Users/hello/AppData/Local/Temp/lm-shots/crops/tiles-q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2584" y="5486400"/>
            <a:ext cx="1885872" cy="868680"/>
          </a:xfrm>
          <a:prstGeom prst="rect">
            <a:avLst/>
          </a:prstGeom>
        </p:spPr>
      </p:pic>
      <p:sp>
        <p:nvSpPr>
          <p:cNvPr id="13" name="caption QC"/>
          <p:cNvSpPr txBox="1"/>
          <p:nvPr/>
        </p:nvSpPr>
        <p:spPr>
          <a:xfrm>
            <a:off x="8092440" y="6355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</a:rPr>
              <a:t>QC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same floor in all eight models — QC 3</a:t>
            </a:r>
            <a:endParaRPr lang="en-US" sz="3000" dirty="0"/>
          </a:p>
        </p:txBody>
      </p:sp>
      <p:sp>
        <p:nvSpPr>
          <p:cNvPr id="3" name="label Normal"/>
          <p:cNvSpPr txBox="1"/>
          <p:nvPr/>
        </p:nvSpPr>
        <p:spPr>
          <a:xfrm>
            <a:off x="548640" y="1234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Normal</a:t>
            </a:r>
            <a:endParaRPr lang="en-US" sz="1200" dirty="0"/>
          </a:p>
        </p:txBody>
      </p:sp>
      <p:sp>
        <p:nvSpPr>
          <p:cNvPr id="4" name="normal qc3 small frame"/>
          <p:cNvSpPr/>
          <p:nvPr/>
        </p:nvSpPr>
        <p:spPr>
          <a:xfrm>
            <a:off x="771711" y="1527048"/>
            <a:ext cx="2251337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5" name="normal qc3 small" descr="C:/Users/hello/AppData/Local/Temp/lm-shots/crops/normal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11" y="1527048"/>
            <a:ext cx="2251337" cy="2194560"/>
          </a:xfrm>
          <a:prstGeom prst="rect">
            <a:avLst/>
          </a:prstGeom>
        </p:spPr>
      </p:pic>
      <p:sp>
        <p:nvSpPr>
          <p:cNvPr id="6" name="label Thermal heatmap"/>
          <p:cNvSpPr txBox="1"/>
          <p:nvPr/>
        </p:nvSpPr>
        <p:spPr>
          <a:xfrm>
            <a:off x="3355848" y="1234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Thermal heatmap</a:t>
            </a:r>
            <a:endParaRPr lang="en-US" sz="1200" dirty="0"/>
          </a:p>
        </p:txBody>
      </p:sp>
      <p:sp>
        <p:nvSpPr>
          <p:cNvPr id="7" name="heatmap qc3 small frame"/>
          <p:cNvSpPr/>
          <p:nvPr/>
        </p:nvSpPr>
        <p:spPr>
          <a:xfrm>
            <a:off x="3355848" y="1865662"/>
            <a:ext cx="2697480" cy="15173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8" name="heatmap qc3 small" descr="C:/Users/hello/AppData/Local/Temp/lm-shots/crops/heatmap-qc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865662"/>
            <a:ext cx="2697480" cy="1517333"/>
          </a:xfrm>
          <a:prstGeom prst="rect">
            <a:avLst/>
          </a:prstGeom>
        </p:spPr>
      </p:pic>
      <p:sp>
        <p:nvSpPr>
          <p:cNvPr id="9" name="label Blueprint"/>
          <p:cNvSpPr txBox="1"/>
          <p:nvPr/>
        </p:nvSpPr>
        <p:spPr>
          <a:xfrm>
            <a:off x="6163056" y="1234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Blueprint</a:t>
            </a:r>
            <a:endParaRPr lang="en-US" sz="1200" dirty="0"/>
          </a:p>
        </p:txBody>
      </p:sp>
      <p:sp>
        <p:nvSpPr>
          <p:cNvPr id="10" name="blueprint qc3 small frame"/>
          <p:cNvSpPr/>
          <p:nvPr/>
        </p:nvSpPr>
        <p:spPr>
          <a:xfrm>
            <a:off x="6163056" y="1865662"/>
            <a:ext cx="2697480" cy="15173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1" name="blueprint qc3 small" descr="C:/Users/hello/AppData/Local/Temp/lm-shots/crops/blueprint-qc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1865662"/>
            <a:ext cx="2697480" cy="1517333"/>
          </a:xfrm>
          <a:prstGeom prst="rect">
            <a:avLst/>
          </a:prstGeom>
        </p:spPr>
      </p:pic>
      <p:sp>
        <p:nvSpPr>
          <p:cNvPr id="12" name="label Dark control room"/>
          <p:cNvSpPr txBox="1"/>
          <p:nvPr/>
        </p:nvSpPr>
        <p:spPr>
          <a:xfrm>
            <a:off x="8970264" y="1234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Dark control room</a:t>
            </a:r>
            <a:endParaRPr lang="en-US" sz="1200" dirty="0"/>
          </a:p>
        </p:txBody>
      </p:sp>
      <p:sp>
        <p:nvSpPr>
          <p:cNvPr id="13" name="dark qc3 small frame"/>
          <p:cNvSpPr/>
          <p:nvPr/>
        </p:nvSpPr>
        <p:spPr>
          <a:xfrm>
            <a:off x="8970264" y="1865662"/>
            <a:ext cx="2697480" cy="151733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4" name="dark qc3 small" descr="C:/Users/hello/AppData/Local/Temp/lm-shots/crops/dark-qc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264" y="1865662"/>
            <a:ext cx="2697480" cy="1517333"/>
          </a:xfrm>
          <a:prstGeom prst="rect">
            <a:avLst/>
          </a:prstGeom>
        </p:spPr>
      </p:pic>
      <p:sp>
        <p:nvSpPr>
          <p:cNvPr id="15" name="label Isometric 2.5D"/>
          <p:cNvSpPr txBox="1"/>
          <p:nvPr/>
        </p:nvSpPr>
        <p:spPr>
          <a:xfrm>
            <a:off x="548640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Isometric 2.5D</a:t>
            </a:r>
            <a:endParaRPr lang="en-US" sz="1200" dirty="0"/>
          </a:p>
        </p:txBody>
      </p:sp>
      <p:sp>
        <p:nvSpPr>
          <p:cNvPr id="16" name="isometric qc3 small frame"/>
          <p:cNvSpPr/>
          <p:nvPr/>
        </p:nvSpPr>
        <p:spPr>
          <a:xfrm>
            <a:off x="548640" y="4343377"/>
            <a:ext cx="2697480" cy="177398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17" name="isometric qc3 small" descr="C:/Users/hello/AppData/Local/Temp/lm-shots/crops/isometric-qc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343377"/>
            <a:ext cx="2697480" cy="1773983"/>
          </a:xfrm>
          <a:prstGeom prst="rect">
            <a:avLst/>
          </a:prstGeom>
        </p:spPr>
      </p:pic>
      <p:sp>
        <p:nvSpPr>
          <p:cNvPr id="18" name="label 3D interactive"/>
          <p:cNvSpPr txBox="1"/>
          <p:nvPr/>
        </p:nvSpPr>
        <p:spPr>
          <a:xfrm>
            <a:off x="3355848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3D interactive</a:t>
            </a:r>
            <a:endParaRPr lang="en-US" sz="1200" dirty="0"/>
          </a:p>
        </p:txBody>
      </p:sp>
      <p:sp>
        <p:nvSpPr>
          <p:cNvPr id="19" name="3d qc3 small frame"/>
          <p:cNvSpPr/>
          <p:nvPr/>
        </p:nvSpPr>
        <p:spPr>
          <a:xfrm>
            <a:off x="3355848" y="4464867"/>
            <a:ext cx="2697480" cy="153100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20" name="3d qc3 small" descr="C:/Users/hello/AppData/Local/Temp/lm-shots/crops/3d-qc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5848" y="4464867"/>
            <a:ext cx="2697480" cy="1531002"/>
          </a:xfrm>
          <a:prstGeom prst="rect">
            <a:avLst/>
          </a:prstGeom>
        </p:spPr>
      </p:pic>
      <p:sp>
        <p:nvSpPr>
          <p:cNvPr id="21" name="label Digital twin 3D"/>
          <p:cNvSpPr txBox="1"/>
          <p:nvPr/>
        </p:nvSpPr>
        <p:spPr>
          <a:xfrm>
            <a:off x="6163056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Digital twin 3D</a:t>
            </a:r>
            <a:endParaRPr lang="en-US" sz="1200" dirty="0"/>
          </a:p>
        </p:txBody>
      </p:sp>
      <p:sp>
        <p:nvSpPr>
          <p:cNvPr id="22" name="twin qc3 small frame"/>
          <p:cNvSpPr/>
          <p:nvPr/>
        </p:nvSpPr>
        <p:spPr>
          <a:xfrm>
            <a:off x="6163056" y="4464867"/>
            <a:ext cx="2697480" cy="153100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23" name="twin qc3 small" descr="C:/Users/hello/AppData/Local/Temp/lm-shots/crops/twin-qc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4464867"/>
            <a:ext cx="2697480" cy="1531002"/>
          </a:xfrm>
          <a:prstGeom prst="rect">
            <a:avLst/>
          </a:prstGeom>
        </p:spPr>
      </p:pic>
      <p:sp>
        <p:nvSpPr>
          <p:cNvPr id="24" name="label Tile wall"/>
          <p:cNvSpPr txBox="1"/>
          <p:nvPr/>
        </p:nvSpPr>
        <p:spPr>
          <a:xfrm>
            <a:off x="8970264" y="38404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Tile wall</a:t>
            </a:r>
            <a:endParaRPr lang="en-US" sz="1200" dirty="0"/>
          </a:p>
        </p:txBody>
      </p:sp>
      <p:sp>
        <p:nvSpPr>
          <p:cNvPr id="25" name="tiles qc3 small frame"/>
          <p:cNvSpPr/>
          <p:nvPr/>
        </p:nvSpPr>
        <p:spPr>
          <a:xfrm>
            <a:off x="8970264" y="4730491"/>
            <a:ext cx="2697480" cy="99975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26" name="tiles qc3 small" descr="C:/Users/hello/AppData/Local/Temp/lm-shots/crops/tiles-qc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0264" y="4730491"/>
            <a:ext cx="2697480" cy="9997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they compare</a:t>
            </a:r>
            <a:endParaRPr lang="en-US" sz="3000" dirty="0"/>
          </a:p>
        </p:txBody>
      </p:sp>
      <p:graphicFrame>
        <p:nvGraphicFramePr>
          <p:cNvPr id="14" name="comparison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371600"/>
                <a:gridCol w="1371600"/>
                <a:gridCol w="1280160"/>
                <a:gridCol w="1371600"/>
                <a:gridCol w="118872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at a glance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 stands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 impression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display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Prints /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to integrate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8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Thermal heatmap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control room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Isometric 2.5D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 interactive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Graphics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twin 3D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Graphics PC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wall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●○○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●●●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●●○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PC, TV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</a:tbl>
          </a:graphicData>
        </a:graphic>
      </p:graphicFrame>
      <p:sp>
        <p:nvSpPr>
          <p:cNvPr id="4" name="matrix note"/>
          <p:cNvSpPr txBox="1"/>
          <p:nvPr/>
        </p:nvSpPr>
        <p:spPr>
          <a:xfrm>
            <a:off x="548640" y="5577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● more  ○ less — a working assessment to discuss, not a measurement. "Effort" = work to put the model on the live dashboard.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What we need from you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4" name="step number 1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step heading 1"/>
          <p:cNvSpPr txBox="1"/>
          <p:nvPr/>
        </p:nvSpPr>
        <p:spPr>
          <a:xfrm>
            <a:off x="1417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Choose a model</a:t>
            </a:r>
            <a:endParaRPr lang="en-US" sz="1800" dirty="0"/>
          </a:p>
        </p:txBody>
      </p:sp>
      <p:sp>
        <p:nvSpPr>
          <p:cNvPr id="6" name="step text 1"/>
          <p:cNvSpPr txBox="1"/>
          <p:nvPr/>
        </p:nvSpPr>
        <p:spPr>
          <a:xfrm>
            <a:off x="1417320" y="1737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8DD"/>
                </a:solidFill>
              </a:rPr>
              <a:t>One primary model for the dashboard’s graphical view. A second may be kept as a toggle (for example dark or tile wall for the wall, normal or heatmap for desks).</a:t>
            </a:r>
            <a:endParaRPr lang="en-US" sz="1300" dirty="0"/>
          </a:p>
        </p:txBody>
      </p:sp>
      <p:sp>
        <p:nvSpPr>
          <p:cNvPr id="7" name="step 2"/>
          <p:cNvSpPr/>
          <p:nvPr/>
        </p:nvSpPr>
        <p:spPr>
          <a:xfrm>
            <a:off x="640080" y="2606040"/>
            <a:ext cx="548640" cy="548640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8" name="step number 2"/>
          <p:cNvSpPr txBox="1"/>
          <p:nvPr/>
        </p:nvSpPr>
        <p:spPr>
          <a:xfrm>
            <a:off x="64008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step heading 2"/>
          <p:cNvSpPr txBox="1"/>
          <p:nvPr/>
        </p:nvSpPr>
        <p:spPr>
          <a:xfrm>
            <a:off x="1417320" y="2560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Tell us the screen</a:t>
            </a:r>
            <a:endParaRPr lang="en-US" sz="1800" dirty="0"/>
          </a:p>
        </p:txBody>
      </p:sp>
      <p:sp>
        <p:nvSpPr>
          <p:cNvPr id="10" name="step text 2"/>
          <p:cNvSpPr txBox="1"/>
          <p:nvPr/>
        </p:nvSpPr>
        <p:spPr>
          <a:xfrm>
            <a:off x="141732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8DD"/>
                </a:solidFill>
              </a:rPr>
              <a:t>Office monitor, control-room wall, or tablet — it decides the default and whether 3D is practical.</a:t>
            </a:r>
            <a:endParaRPr lang="en-US" sz="1300" dirty="0"/>
          </a:p>
        </p:txBody>
      </p:sp>
      <p:sp>
        <p:nvSpPr>
          <p:cNvPr id="11" name="step 3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2" name="step number 3"/>
          <p:cNvSpPr txBox="1"/>
          <p:nvPr/>
        </p:nvSpPr>
        <p:spPr>
          <a:xfrm>
            <a:off x="64008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tep heading 3"/>
          <p:cNvSpPr txBox="1"/>
          <p:nvPr/>
        </p:nvSpPr>
        <p:spPr>
          <a:xfrm>
            <a:off x="1417320" y="3749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We integrate it</a:t>
            </a:r>
            <a:endParaRPr lang="en-US" sz="1800" dirty="0"/>
          </a:p>
        </p:txBody>
      </p:sp>
      <p:sp>
        <p:nvSpPr>
          <p:cNvPr id="14" name="step text 3"/>
          <p:cNvSpPr txBox="1"/>
          <p:nvPr/>
        </p:nvSpPr>
        <p:spPr>
          <a:xfrm>
            <a:off x="1417320" y="41148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8DD"/>
                </a:solidFill>
              </a:rPr>
              <a:t>The chosen model replaces or joins the 2D view on the live dashboard, reading live data; the floors, doors and instruments are already in place.</a:t>
            </a:r>
            <a:endParaRPr lang="en-US" sz="1300" dirty="0"/>
          </a:p>
        </p:txBody>
      </p:sp>
      <p:sp>
        <p:nvSpPr>
          <p:cNvPr id="15" name="step 4"/>
          <p:cNvSpPr/>
          <p:nvPr/>
        </p:nvSpPr>
        <p:spPr>
          <a:xfrm>
            <a:off x="640080" y="4983480"/>
            <a:ext cx="548640" cy="548640"/>
          </a:xfrm>
          <a:prstGeom prst="ellipse">
            <a:avLst/>
          </a:prstGeom>
          <a:solidFill>
            <a:srgbClr val="1E4E8C"/>
          </a:solidFill>
          <a:ln w="12700">
            <a:solidFill>
              <a:srgbClr val="1E4E8C"/>
            </a:solidFill>
            <a:prstDash val="solid"/>
          </a:ln>
        </p:spPr>
      </p:sp>
      <p:sp>
        <p:nvSpPr>
          <p:cNvPr id="16" name="step number 4"/>
          <p:cNvSpPr txBox="1"/>
          <p:nvPr/>
        </p:nvSpPr>
        <p:spPr>
          <a:xfrm>
            <a:off x="6400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step heading 4"/>
          <p:cNvSpPr txBox="1"/>
          <p:nvPr/>
        </p:nvSpPr>
        <p:spPr>
          <a:xfrm>
            <a:off x="1417320" y="4937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on live data</a:t>
            </a:r>
            <a:endParaRPr lang="en-US" sz="1800" dirty="0"/>
          </a:p>
        </p:txBody>
      </p:sp>
      <p:sp>
        <p:nvSpPr>
          <p:cNvPr id="18" name="step text 4"/>
          <p:cNvSpPr txBox="1"/>
          <p:nvPr/>
        </p:nvSpPr>
        <p:spPr>
          <a:xfrm>
            <a:off x="1417320" y="5303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8DD"/>
                </a:solidFill>
              </a:rPr>
              <a:t>A review on the plant’s own readings before sign-off; the other models stay available as standalone pages.</a:t>
            </a:r>
            <a:endParaRPr lang="en-US" sz="1300" dirty="0"/>
          </a:p>
        </p:txBody>
      </p:sp>
      <p:sp>
        <p:nvSpPr>
          <p:cNvPr id="19" name="heatmap qc3 decision frame"/>
          <p:cNvSpPr/>
          <p:nvPr/>
        </p:nvSpPr>
        <p:spPr>
          <a:xfrm>
            <a:off x="6949440" y="2366010"/>
            <a:ext cx="4754880" cy="267462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0">
                <a:alpha val="18000"/>
              </a:srgbClr>
            </a:outerShdw>
          </a:effectLst>
        </p:spPr>
      </p:sp>
      <p:pic>
        <p:nvPicPr>
          <p:cNvPr id="20" name="heatmap qc3 decision" descr="C:/Users/hello/AppData/Local/Temp/lm-shots/crops/heatmap-q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366010"/>
            <a:ext cx="4754880" cy="26746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A3B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yout models">
  <a:themeElements>
    <a:clrScheme name="Layout models">
      <a:dk1>
        <a:srgbClr val="1B2430"/>
      </a:dk1>
      <a:lt1>
        <a:srgbClr val="FFFFFF"/>
      </a:lt1>
      <a:dk2>
        <a:srgbClr val="0F1A2E"/>
      </a:dk2>
      <a:lt2>
        <a:srgbClr val="EEF1F5"/>
      </a:lt2>
      <a:accent1>
        <a:srgbClr val="1E4E8C"/>
      </a:accent1>
      <a:accent2>
        <a:srgbClr val="1F9D55"/>
      </a:accent2>
      <a:accent3>
        <a:srgbClr val="D6453D"/>
      </a:accent3>
      <a:accent4>
        <a:srgbClr val="7C3AED"/>
      </a:accent4>
      <a:accent5>
        <a:srgbClr val="D98E04"/>
      </a:accent5>
      <a:accent6>
        <a:srgbClr val="5B6B7F"/>
      </a:accent6>
      <a:hlink>
        <a:srgbClr val="1E4E8C"/>
      </a:hlink>
      <a:folHlink>
        <a:srgbClr val="7C3AED"/>
      </a:folHlink>
    </a:clrScheme>
    <a:fontScheme name="Layout model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Floor layout models</dc:title>
  <dc:subject>PptxGenJS Presentation</dc:subject>
  <dc:creator>T&amp;RH Monitoring</dc:creator>
  <cp:lastModifiedBy>T&amp;RH Monitoring</cp:lastModifiedBy>
  <cp:revision>1</cp:revision>
  <dcterms:created xsi:type="dcterms:W3CDTF">2026-10-03T10:29:21Z</dcterms:created>
  <dcterms:modified xsi:type="dcterms:W3CDTF">2026-10-03T10:29:21Z</dcterms:modified>
</cp:coreProperties>
</file>